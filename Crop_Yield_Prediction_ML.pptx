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85053" autoAdjust="0"/>
  </p:normalViewPr>
  <p:slideViewPr>
    <p:cSldViewPr snapToGrid="0" snapToObjects="1">
      <p:cViewPr varScale="1">
        <p:scale>
          <a:sx n="56" d="100"/>
          <a:sy n="56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R² Score by Model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A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</c:v>
                </c:pt>
                <c:pt idx="1">
                  <c:v>Lasso</c:v>
                </c:pt>
                <c:pt idx="2">
                  <c:v>Elastic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0.874</c:v>
                </c:pt>
                <c:pt idx="1">
                  <c:v>0.876</c:v>
                </c:pt>
                <c:pt idx="2">
                  <c:v>0.875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32-49A4-9757-3E4DED249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8500000000000001"/>
          <c:min val="0.85"/>
        </c:scaling>
        <c:delete val="0"/>
        <c:axPos val="l"/>
        <c:majorGridlines>
          <c:spPr>
            <a:ln w="9525" cap="flat">
              <a:solidFill>
                <a:srgbClr val="D9E0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RMSE by Model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C97B3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A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</c:v>
                </c:pt>
                <c:pt idx="1">
                  <c:v>Lasso</c:v>
                </c:pt>
                <c:pt idx="2">
                  <c:v>Elastic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302.57</c:v>
                </c:pt>
                <c:pt idx="1">
                  <c:v>299.49</c:v>
                </c:pt>
                <c:pt idx="2">
                  <c:v>300.72000000000003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84-467F-B4AE-DAF79D6815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5"/>
          <c:min val="295"/>
        </c:scaling>
        <c:delete val="0"/>
        <c:axPos val="l"/>
        <c:majorGridlines>
          <c:spPr>
            <a:ln w="9525" cap="flat">
              <a:solidFill>
                <a:srgbClr val="D9E0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07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A6E9-C288-A131-B54B-1675263D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0C849-B1FD-69DF-6589-B3EE54D86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AC5DC-D082-6C87-ED25-22B1E2925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0A613-8C97-4B76-D5C4-E33725B0A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70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0" descr="/home/claude/work/icons/lea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77906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REGRESSION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1514" y="179451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Agriculture: Crop Yield Prediction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71514" y="275691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EF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Ridge, Lasso, and Elastic Net Regression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31509" y="4179951"/>
            <a:ext cx="5297805" cy="2096262"/>
          </a:xfrm>
          <a:prstGeom prst="roundRect">
            <a:avLst>
              <a:gd name="adj" fmla="val 390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794461" y="4330827"/>
            <a:ext cx="1703070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6770" y="4730877"/>
            <a:ext cx="3460222" cy="1474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Thipireddy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Hansini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2520030095  | Section 8</a:t>
            </a: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Sakili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Poojitha Reddy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 No: 2520030110  | Section 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08445" y="4317111"/>
            <a:ext cx="4754880" cy="381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GUIDENCE OF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337560" y="4860036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51937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7560" y="5193792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55275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17531" y="552754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58613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08445" y="4865751"/>
            <a:ext cx="388239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6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81C5D06E-BA7A-A42A-3A2D-8FB0A13B9781}"/>
              </a:ext>
            </a:extLst>
          </p:cNvPr>
          <p:cNvSpPr/>
          <p:nvPr/>
        </p:nvSpPr>
        <p:spPr>
          <a:xfrm>
            <a:off x="6313169" y="4179952"/>
            <a:ext cx="5297805" cy="2096262"/>
          </a:xfrm>
          <a:prstGeom prst="roundRect">
            <a:avLst>
              <a:gd name="adj" fmla="val 390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seedl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6720840" cy="4937760"/>
          </a:xfrm>
          <a:prstGeom prst="roundRect">
            <a:avLst>
              <a:gd name="adj" fmla="val 1481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58191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435608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depends on many interacting factors: soil nutrients, rainfall, temperature, humidity, fertilizer and pesticide usage.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2752344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6060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estimation methods (averages, simple rules) struggle to capture non-linear, multi-variable relationships in agricultural data.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1520" y="3922776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76472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regression can learn statistical relationships between agricultural / environmental factors and crop yield.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31520" y="5093208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4946904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predicts crop yield and compares three regularized linear regression techniques on a real multi-source agricultural dataset.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06640" y="123444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1627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63524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Supervised Regression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06640" y="283464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EEF3E8"/>
          </a:solidFill>
          <a:ln w="12700">
            <a:solidFill>
              <a:srgbClr val="D9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2944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3273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Ridge Regression  (L2)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35240" y="3694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Lasso Regression  (L1)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3524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Elastic Net  (L1 + L2)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06640" y="493776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C97B3D">
              <a:alpha val="9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regularization? Later analysis shows several predictors (e.g. area, fertilizer, pesticide) are highly correlated — regularization controls coefficient size and reduces overfitting from this multicollinearity.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Identification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/home/claude/work/icons/leaf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1477670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19,689 × 9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3258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crop_yield.csv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70248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E8"/>
          </a:solidFill>
          <a:ln/>
        </p:spPr>
      </p:sp>
      <p:sp>
        <p:nvSpPr>
          <p:cNvPr id="11" name="Shape 7"/>
          <p:cNvSpPr/>
          <p:nvPr/>
        </p:nvSpPr>
        <p:spPr>
          <a:xfrm>
            <a:off x="4498848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/home/claude/work/icons/flas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198" y="1477670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8928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× 5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5138928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state_soil_data.csv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83296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8311896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3" descr="/home/claude/work/icons/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246" y="1477670"/>
            <a:ext cx="382219" cy="3822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51976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× 5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951976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state_weather_data_1997_2020.csv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11274552" cy="2651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crop_yield.csv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/ yield records and agricultural inputs (area, production, fertilizer, pesticide)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state_soil_data.csv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State-level soil nutrient profile (N, P, K, pH)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state_weather_data_1997_2020.csv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State-year weather (temperature, rainfall, humidity), 1997–2020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4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1997–2020 (based on the uploaded weather and crop-yield records). All three files cover the same 30 Indian states, enabling a join on state (and state + year for weather).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hartb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crop_yield.csv (sample rows)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268712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19,689 × 9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10360152" cy="10972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pesticide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Arecanut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7,024,878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22,882.3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Coconut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126,905,000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1,870,662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5238.05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Cotton(lint)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165,501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state_soil_data.csv (sample rows)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48056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5</a:t>
            </a:r>
            <a:endParaRPr lang="en-US" sz="11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38728"/>
          <a:ext cx="5486400" cy="1097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Arunachal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245352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state_weather_data_1997_2020.csv (sample rows)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268712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× 5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538728"/>
          <a:ext cx="54864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avg_temp_c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rainfall_mm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humidity_%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1,191.08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1,100.41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603.67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457200" y="544068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EF3E8"/>
          </a:solidFill>
          <a:ln/>
        </p:spPr>
      </p:sp>
      <p:sp>
        <p:nvSpPr>
          <p:cNvPr id="15" name="Text 9"/>
          <p:cNvSpPr/>
          <p:nvPr/>
        </p:nvSpPr>
        <p:spPr>
          <a:xfrm>
            <a:off x="685800" y="5559552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crop_yield.csv row for Coconut (Assam, 1997) already hints at a key EDA finding — Coconut yield (5238) is measured on a very different numeric scale from most other crops (see Slide 6).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broo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Integration &amp; Preprocessing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EF3E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files are joined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18745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crop_yield.csv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2514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state_soil_data.csv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1546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state_weather_data.csv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94760" y="233172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2331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Table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697480" y="2103120"/>
            <a:ext cx="1097280" cy="731520"/>
          </a:xfrm>
          <a:prstGeom prst="line">
            <a:avLst/>
          </a:prstGeom>
          <a:noFill/>
          <a:ln w="22225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697480" y="2743200"/>
            <a:ext cx="1097280" cy="137160"/>
          </a:xfrm>
          <a:prstGeom prst="line">
            <a:avLst/>
          </a:prstGeom>
          <a:noFill/>
          <a:ln w="22225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697480" y="3383280"/>
            <a:ext cx="1097280" cy="0"/>
          </a:xfrm>
          <a:prstGeom prst="line">
            <a:avLst/>
          </a:prstGeom>
          <a:noFill/>
          <a:ln w="22225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85800" y="3703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crop_yield joins soil data on state, and weather data on state + year.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40416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19,689 × 16 merged rows, 0 missing values — every crop_yield record retains its state's soil profile and its state-year weather.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0760" y="1280160"/>
            <a:ext cx="5650992" cy="4526280"/>
          </a:xfrm>
          <a:prstGeom prst="roundRect">
            <a:avLst>
              <a:gd name="adj" fmla="val 1616"/>
            </a:avLst>
          </a:prstGeom>
          <a:solidFill>
            <a:srgbClr val="EEF3E8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 Applied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1865376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17373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cleanup: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and crop values in crop_yield.csv contain trailing spaces (e.g. ‘Kharif     ’, ‘Whole Year ’); stripped before grouping/encoding.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355080" y="2560320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2432304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.isnull().sum() on all three files: 0 missing values found in crop_yield.csv, state_soil_data.csv and state_weather_data_1997_2020.csv.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355080" y="3383280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2552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 in any of the three source files.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55080" y="3895344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9" name="Text 26"/>
          <p:cNvSpPr/>
          <p:nvPr/>
        </p:nvSpPr>
        <p:spPr>
          <a:xfrm>
            <a:off x="6583680" y="3767328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check: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on state (+ year), the combined table also has 0 missing values — every state/year in crop_yield.csv had a matching soil and weather record.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355080" y="4718304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45902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(55 categories), season (6), state (30) one-hot encoded.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55080" y="5230368"/>
            <a:ext cx="128016" cy="128016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0" y="510235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predictors standardized (zero mean, unit variance) with StandardScaler before Ridge / Lasso / Elastic Net.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scaling matters: Ridge, Lasso and Elastic Net penalize coefficient magnitude directly, so unscaled features (fertilizer in millions vs. pH in single digits) would be penalized unfairly without standardization.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hartb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Crop Yield Distribution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69494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0D2"/>
            </a:solidFill>
            <a:prstDash val="solid"/>
          </a:ln>
        </p:spPr>
      </p:sp>
      <p:pic>
        <p:nvPicPr>
          <p:cNvPr id="7" name="Image 1" descr="/home/claude/work/charts/yield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54480"/>
            <a:ext cx="6675120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39496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uses log(1 + yield) because raw yield ranges from 0 to 21,105 — plotting it directly would compress almost all records into a single bar.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141732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0" y="1472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yield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772400" y="1709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79.95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589520" y="224028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2295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yield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72400" y="2532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589520" y="306324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0" y="3118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77240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878.31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589520" y="3886200"/>
            <a:ext cx="4142232" cy="713232"/>
          </a:xfrm>
          <a:prstGeom prst="roundRect">
            <a:avLst>
              <a:gd name="adj" fmla="val 7692"/>
            </a:avLst>
          </a:prstGeom>
          <a:solidFill>
            <a:srgbClr val="EEF3E8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0" y="3941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yield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72400" y="4178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21,105 (Coconut, Telangana, 2014)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589520" y="4800600"/>
            <a:ext cx="4142232" cy="150876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0" y="491947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 is strongly right-skewed; most records sit below 2.4.
• Coconut (172 of 19,689 rows) is reported in a much larger unit than most crops and drives the extreme upper tail / outliers.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seedl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Agricultural Factors vs. Yield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pic>
        <p:nvPicPr>
          <p:cNvPr id="6" name="Image 1" descr="/home/claude/work/charts/agri_factors_vs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7315200" cy="4800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234440"/>
            <a:ext cx="3502152" cy="4892040"/>
          </a:xfrm>
          <a:prstGeom prst="roundRect">
            <a:avLst>
              <a:gd name="adj" fmla="val 2089"/>
            </a:avLst>
          </a:prstGeom>
          <a:solidFill>
            <a:srgbClr val="EEF3E8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58200" y="178308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were grouped into deciles of each factor and the mean log(yield) was plotted per decile.
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Fertilizer and pesticide show a mild upward trend across deciles.
• Rainfall and temperature show noisy, non-monotonic patterns — no clear linear trend at this aggregation level.
• This matches the very weak individual correlations with yield found in Slide 9 (all below 0.07 in magnitude).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flas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Soil Factors vs. Yield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pic>
        <p:nvPicPr>
          <p:cNvPr id="6" name="Image 1" descr="/home/claude/work/charts/soil_factors_vs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7315200" cy="4800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234440"/>
            <a:ext cx="3502152" cy="4892040"/>
          </a:xfrm>
          <a:prstGeom prst="roundRect">
            <a:avLst>
              <a:gd name="adj" fmla="val 2089"/>
            </a:avLst>
          </a:prstGeom>
          <a:solidFill>
            <a:srgbClr val="EEF3E8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58200" y="178308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 and pH are state-level averages (one value per state), so their relationship with row-level yield is naturally weak and noisy.
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None of the four soil variables shows a consistent monotonic trend with mean log(yield).
• Potassium (K) and Phosphorus (P) show a rise only in the highest decile, not a steady trend.
• On their own, soil variables are weak predictors of yield — confirmed by the correlation analysis on Slide 9.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projectdiagra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Correlation Analysis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84124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pic>
        <p:nvPicPr>
          <p:cNvPr id="6" name="Image 1" descr="/home/claude/work/charts/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03504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1188720"/>
            <a:ext cx="5010912" cy="2331720"/>
          </a:xfrm>
          <a:prstGeom prst="roundRect">
            <a:avLst>
              <a:gd name="adj" fmla="val 3137"/>
            </a:avLst>
          </a:prstGeom>
          <a:solidFill>
            <a:srgbClr val="C97B3D">
              <a:alpha val="92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949440" y="1298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detected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949440" y="1627632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area ↔ fertilizer: r = 0.97
• area ↔ pesticide: r = 0.97
• fertilizer ↔ pesticide: r = 0.95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inputs move almost together (larger farmland → proportionally more fertilizer &amp; pesticide), which is exactly the scenario Ridge, Lasso and Elastic Net are designed to handle.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20840" y="3657600"/>
            <a:ext cx="5010912" cy="2606040"/>
          </a:xfrm>
          <a:prstGeom prst="roundRect">
            <a:avLst>
              <a:gd name="adj" fmla="val 2807"/>
            </a:avLst>
          </a:prstGeom>
          <a:solidFill>
            <a:srgbClr val="EEF3E8"/>
          </a:solidFill>
          <a:ln/>
        </p:spPr>
      </p:sp>
      <p:sp>
        <p:nvSpPr>
          <p:cNvPr id="11" name="Text 7"/>
          <p:cNvSpPr/>
          <p:nvPr/>
        </p:nvSpPr>
        <p:spPr>
          <a:xfrm>
            <a:off x="6949440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yield (weak)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949440" y="4078224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numeric feature correlates weakly with yield: humidity (0.06), temperature (0.05), K (0.04), P (0.04), rainfall (0.01), fertilizer (0.003), area (0.002), pesticide (0.002), N (0.001), pH (−0.02).
</a:t>
            </a: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mean these features are useless — yield depends on non-linear combinations and, most strongly, on crop identity (see Slide 12 model coefficients). It does mean simple linear correlation alone under-represents each factor's contribution.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EEF3E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(10) — scaled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91840" y="1783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fertilizer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pesticide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91840" y="21671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(soil nitrogen)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5511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(soil phosphorus)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91840" y="25511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(soil potassium)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29352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 (soil pH)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91840" y="293522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avg_temp_c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total_rainfall_mm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9184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avg_humidity_percent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5696712" cy="2788920"/>
          </a:xfrm>
          <a:prstGeom prst="roundRect">
            <a:avLst>
              <a:gd name="adj" fmla="val 2623"/>
            </a:avLst>
          </a:prstGeom>
          <a:solidFill>
            <a:srgbClr val="EEF3E8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(3) — one-hot encoded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1810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89520" y="1810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unique values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63640" y="2313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89520" y="2313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(Kharif, Rabi, Whole Year, Summer, Autumn, Winter)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63640" y="2816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89520" y="2816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unique values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63640" y="3383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One-hot encoding expands these 3 columns into ~100 total input columns (with numeric features included) after encoding.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2519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C97B3D">
              <a:alpha val="9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38912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production.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derived largely from production and area (correlation of production with yield = 0.57, while production correlates only 0.04 with area). Including production as a predictor would leak the target into the input and produce an unrealistically easy prediction task, so it is dropped from the feature set.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54406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557784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pipeline: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numeric features → StandardScaler   |   3 categorical features → One-Hot Encoding   |   Combined via a scikit-learn ColumnTransformer feeding Ridge / Lasso / Elastic Net.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rou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490472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613916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1613916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47188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70632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2770632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03904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927348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3927348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60620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84064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5084064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17336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40780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21" name="Text 18"/>
          <p:cNvSpPr/>
          <p:nvPr/>
        </p:nvSpPr>
        <p:spPr>
          <a:xfrm>
            <a:off x="6240780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74052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97496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7397496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430768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554212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27" name="Text 24"/>
          <p:cNvSpPr/>
          <p:nvPr/>
        </p:nvSpPr>
        <p:spPr>
          <a:xfrm>
            <a:off x="8554212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587484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10928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30" name="Text 27"/>
          <p:cNvSpPr/>
          <p:nvPr/>
        </p:nvSpPr>
        <p:spPr>
          <a:xfrm>
            <a:off x="9710928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744200" y="1851660"/>
            <a:ext cx="123444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867644" y="1417320"/>
            <a:ext cx="1033272" cy="868680"/>
          </a:xfrm>
          <a:prstGeom prst="roundRect">
            <a:avLst>
              <a:gd name="adj" fmla="val 6316"/>
            </a:avLst>
          </a:prstGeom>
          <a:solidFill>
            <a:srgbClr val="97BC62"/>
          </a:solidFill>
          <a:ln/>
        </p:spPr>
      </p:sp>
      <p:sp>
        <p:nvSpPr>
          <p:cNvPr id="33" name="Text 30"/>
          <p:cNvSpPr/>
          <p:nvPr/>
        </p:nvSpPr>
        <p:spPr>
          <a:xfrm>
            <a:off x="10867644" y="1417320"/>
            <a:ext cx="1033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070848" y="2286000"/>
            <a:ext cx="0" cy="45720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18120" y="260604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1812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818120" y="3172968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18120" y="31729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818120" y="3739896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18120" y="37398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44348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F3A20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443484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Yield Prediction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457200" y="55321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EF3E8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" y="5623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strategy: chronological (year-based), not random.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1997–2015 form the training set (15,404 rows, 78.2%); records from 2016–2020 form the test set (4,285 rows, 21.8%). Because the data spans 24 years, a random split would let the model “see” future years during training — a chronological split better reflects the real task of predicting yield for years not yet observed.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sq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39312" cy="5074920"/>
          </a:xfrm>
          <a:prstGeom prst="roundRect">
            <a:avLst>
              <a:gd name="adj" fmla="val 2010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28016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737360"/>
            <a:ext cx="363931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533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0080" y="171907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32735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97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1945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= RSS + λ Σβ²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30815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2944368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 magnitude toward zero but rarely to exactly zero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410565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68496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multicollinearity by spreading weight across correlated 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" y="512978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992624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features in the model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70248" y="1280160"/>
            <a:ext cx="3639312" cy="5074920"/>
          </a:xfrm>
          <a:prstGeom prst="roundRect">
            <a:avLst>
              <a:gd name="adj" fmla="val 2010"/>
            </a:avLst>
          </a:prstGeom>
          <a:solidFill>
            <a:srgbClr val="EEF3E8"/>
          </a:solidFill>
          <a:ln/>
        </p:spPr>
      </p:sp>
      <p:sp>
        <p:nvSpPr>
          <p:cNvPr id="19" name="Shape 16"/>
          <p:cNvSpPr/>
          <p:nvPr/>
        </p:nvSpPr>
        <p:spPr>
          <a:xfrm>
            <a:off x="4270248" y="128016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20" name="Shape 17"/>
          <p:cNvSpPr/>
          <p:nvPr/>
        </p:nvSpPr>
        <p:spPr>
          <a:xfrm>
            <a:off x="4270248" y="1737360"/>
            <a:ext cx="363931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4453128" y="13533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4453128" y="171907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53128" y="2194560"/>
            <a:ext cx="32735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97B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98848" y="21945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= RSS + λ Σ|β|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471416" y="30815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6" name="Text 23"/>
          <p:cNvSpPr/>
          <p:nvPr/>
        </p:nvSpPr>
        <p:spPr>
          <a:xfrm>
            <a:off x="4654296" y="2944368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some coefficients exactly to zero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71416" y="410565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8" name="Text 25"/>
          <p:cNvSpPr/>
          <p:nvPr/>
        </p:nvSpPr>
        <p:spPr>
          <a:xfrm>
            <a:off x="4654296" y="3968496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automatic feature selection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471416" y="512978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0" name="Text 27"/>
          <p:cNvSpPr/>
          <p:nvPr/>
        </p:nvSpPr>
        <p:spPr>
          <a:xfrm>
            <a:off x="4654296" y="4992624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56 of 100 encoded features were reduced to zero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83296" y="1280160"/>
            <a:ext cx="3639312" cy="5074920"/>
          </a:xfrm>
          <a:prstGeom prst="roundRect">
            <a:avLst>
              <a:gd name="adj" fmla="val 2010"/>
            </a:avLst>
          </a:prstGeom>
          <a:solidFill>
            <a:srgbClr val="EEF3E8"/>
          </a:solidFill>
          <a:ln/>
        </p:spPr>
      </p:sp>
      <p:sp>
        <p:nvSpPr>
          <p:cNvPr id="32" name="Shape 29"/>
          <p:cNvSpPr/>
          <p:nvPr/>
        </p:nvSpPr>
        <p:spPr>
          <a:xfrm>
            <a:off x="8083296" y="128016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33" name="Shape 30"/>
          <p:cNvSpPr/>
          <p:nvPr/>
        </p:nvSpPr>
        <p:spPr>
          <a:xfrm>
            <a:off x="8083296" y="1737360"/>
            <a:ext cx="363931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1"/>
          <p:cNvSpPr/>
          <p:nvPr/>
        </p:nvSpPr>
        <p:spPr>
          <a:xfrm>
            <a:off x="8266176" y="13533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8266176" y="1719072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L2 Regularization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266176" y="2194560"/>
            <a:ext cx="32735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97B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11896" y="2194560"/>
            <a:ext cx="3182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= RSS + λ[αΣ|β| + (1−α)Σβ²]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8284464" y="30815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39" name="Text 36"/>
          <p:cNvSpPr/>
          <p:nvPr/>
        </p:nvSpPr>
        <p:spPr>
          <a:xfrm>
            <a:off x="8467344" y="2944368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Ridge's stability with Lasso's feature selection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284464" y="410565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41" name="Text 38"/>
          <p:cNvSpPr/>
          <p:nvPr/>
        </p:nvSpPr>
        <p:spPr>
          <a:xfrm>
            <a:off x="8467344" y="3968496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when many features are correlated (area, fertilizer, pesticide)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284464" y="512978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43" name="Text 40"/>
          <p:cNvSpPr/>
          <p:nvPr/>
        </p:nvSpPr>
        <p:spPr>
          <a:xfrm>
            <a:off x="8467344" y="4992624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controls the L1/L2 balance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6" name="Shape 3"/>
          <p:cNvSpPr/>
          <p:nvPr/>
        </p:nvSpPr>
        <p:spPr>
          <a:xfrm>
            <a:off x="1499616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/home/claude/work/icons/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26" y="1631290"/>
            <a:ext cx="486461" cy="486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4360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predicted and actual yield.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10128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12" name="Shape 8"/>
          <p:cNvSpPr/>
          <p:nvPr/>
        </p:nvSpPr>
        <p:spPr>
          <a:xfrm>
            <a:off x="4352544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/home/claude/work/icons/chartb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354" y="163129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0128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447288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93008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 — penalizes larger mistakes more heavily.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63056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18" name="Shape 13"/>
          <p:cNvSpPr/>
          <p:nvPr/>
        </p:nvSpPr>
        <p:spPr>
          <a:xfrm>
            <a:off x="7205472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/home/claude/work/icons/wat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282" y="1631290"/>
            <a:ext cx="486461" cy="4864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63056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300216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345936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MSE — expressed in the same unit as yield.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015984" y="1371600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EEF3E8"/>
          </a:solidFill>
          <a:ln/>
        </p:spPr>
      </p:sp>
      <p:sp>
        <p:nvSpPr>
          <p:cNvPr id="24" name="Shape 18"/>
          <p:cNvSpPr/>
          <p:nvPr/>
        </p:nvSpPr>
        <p:spPr>
          <a:xfrm>
            <a:off x="10058400" y="15544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/home/claude/work/icons/troph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5210" y="1631290"/>
            <a:ext cx="486461" cy="4864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15984" y="23317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53144" y="27889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198864" y="3246120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in yield explained by the model (0–1, higher is better).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434340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30" name="Text 23"/>
          <p:cNvSpPr/>
          <p:nvPr/>
        </p:nvSpPr>
        <p:spPr>
          <a:xfrm>
            <a:off x="685800" y="44622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8580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merged dataset chronologically (train: 1997–2015, test: 2016–2020).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Ridge, Lasso and Elastic Net on the same scaled / encoded training features, tuning each model's regularization strength via 5-fold cross-validation.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model on the identical held-out test set using MAE, MSE, RMSE and R², and compare (Slide 14).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work/icons/troph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" y="452079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94960" cy="2103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91,545.3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89,691.4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90,432.4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520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(cross-validated λ selection; test set = 2016–2020 records, chronological split)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3977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E8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C97B3D"/>
          </a:solidFill>
          <a:ln/>
        </p:spPr>
      </p:sp>
      <p:pic>
        <p:nvPicPr>
          <p:cNvPr id="9" name="Image 1" descr="/home/claude/work/icons/troph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220870"/>
            <a:ext cx="382219" cy="38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42062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Lasso Regression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85800" y="47091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achieves the lowest MAE, MSE and RMSE and the highest R² (0.876) among the three models on the chronological test set.
</a:t>
            </a: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L1 penalty reduced 56 of the 100 encoded features to exactly zero — effectively performing feature selection while matching or slightly beating Ridge and Elastic Net on predictive accuracy.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126480" y="1280160"/>
          <a:ext cx="560527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6126480" y="3749040"/>
          <a:ext cx="560527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87397-B0C7-5B3D-66E3-B0F06A92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A87EEF-E60B-601D-C2E7-EC0C5EDFE8E1}"/>
              </a:ext>
            </a:extLst>
          </p:cNvPr>
          <p:cNvSpPr/>
          <p:nvPr/>
        </p:nvSpPr>
        <p:spPr>
          <a:xfrm>
            <a:off x="-1463040" y="4389120"/>
            <a:ext cx="5029200" cy="50292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12AA2-098C-58FD-3823-91D26E2F8A3D}"/>
              </a:ext>
            </a:extLst>
          </p:cNvPr>
          <p:cNvSpPr/>
          <p:nvPr/>
        </p:nvSpPr>
        <p:spPr>
          <a:xfrm>
            <a:off x="9966960" y="-1645920"/>
            <a:ext cx="3840480" cy="3840480"/>
          </a:xfrm>
          <a:prstGeom prst="ellipse">
            <a:avLst/>
          </a:prstGeom>
          <a:solidFill>
            <a:srgbClr val="97BC62">
              <a:alpha val="35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00E1B5-F3BD-BEC8-4D94-57FAE85EF7E5}"/>
              </a:ext>
            </a:extLst>
          </p:cNvPr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/home/claude/work/icons/flag_FFFFFF.png">
            <a:extLst>
              <a:ext uri="{FF2B5EF4-FFF2-40B4-BE49-F238E27FC236}">
                <a16:creationId xmlns:a16="http://schemas.microsoft.com/office/drawing/2014/main" id="{DD932122-D9D1-9907-B398-ABAB892DE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B45C157-C74B-32C9-BE2B-E92E9086738C}"/>
              </a:ext>
            </a:extLst>
          </p:cNvPr>
          <p:cNvSpPr/>
          <p:nvPr/>
        </p:nvSpPr>
        <p:spPr>
          <a:xfrm>
            <a:off x="1371600" y="5303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0437022-4710-ACA5-403B-3F0DD2472501}"/>
              </a:ext>
            </a:extLst>
          </p:cNvPr>
          <p:cNvSpPr/>
          <p:nvPr/>
        </p:nvSpPr>
        <p:spPr>
          <a:xfrm>
            <a:off x="548640" y="146304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B10939A-02B4-8A9F-B85B-E984084CD099}"/>
              </a:ext>
            </a:extLst>
          </p:cNvPr>
          <p:cNvSpPr/>
          <p:nvPr/>
        </p:nvSpPr>
        <p:spPr>
          <a:xfrm>
            <a:off x="822960" y="176479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A8CF17-53DE-62EC-AA6D-5332E0A2A1BC}"/>
              </a:ext>
            </a:extLst>
          </p:cNvPr>
          <p:cNvSpPr/>
          <p:nvPr/>
        </p:nvSpPr>
        <p:spPr>
          <a:xfrm>
            <a:off x="1051560" y="160020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crop yield prediction using real multi-source agricultural data (crop records, soil profiles, weather) for 30 Indian states, 1997–2020.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6C813D5-CB23-2902-C6F6-12B36697A120}"/>
              </a:ext>
            </a:extLst>
          </p:cNvPr>
          <p:cNvSpPr/>
          <p:nvPr/>
        </p:nvSpPr>
        <p:spPr>
          <a:xfrm>
            <a:off x="822960" y="286207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EAF717-18BD-74C3-E208-4FC190FFEC51}"/>
              </a:ext>
            </a:extLst>
          </p:cNvPr>
          <p:cNvSpPr/>
          <p:nvPr/>
        </p:nvSpPr>
        <p:spPr>
          <a:xfrm>
            <a:off x="1051560" y="269748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19,689 crop-yield rows with state soil and state-year weather data into a single 19,689 × 16 modeling table with zero missing values.</a:t>
            </a:r>
            <a:endParaRPr lang="en-US" sz="13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0FEB7E-AD23-8241-3023-0FD430EC0924}"/>
              </a:ext>
            </a:extLst>
          </p:cNvPr>
          <p:cNvSpPr/>
          <p:nvPr/>
        </p:nvSpPr>
        <p:spPr>
          <a:xfrm>
            <a:off x="822960" y="395935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3DA025A-A569-1761-6C24-73EFB44C8016}"/>
              </a:ext>
            </a:extLst>
          </p:cNvPr>
          <p:cNvSpPr/>
          <p:nvPr/>
        </p:nvSpPr>
        <p:spPr>
          <a:xfrm>
            <a:off x="1051560" y="37947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Ridge, Lasso and Elastic Net specifically because area, fertilizer and pesticide were found to be highly correlated (r ≥ 0.95) — a textbook multicollinearity scenario.</a:t>
            </a:r>
            <a:endParaRPr lang="en-US" sz="13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27E9AA5-EA8B-556D-9516-E2BE0D9570F8}"/>
              </a:ext>
            </a:extLst>
          </p:cNvPr>
          <p:cNvSpPr/>
          <p:nvPr/>
        </p:nvSpPr>
        <p:spPr>
          <a:xfrm>
            <a:off x="822960" y="5056632"/>
            <a:ext cx="109728" cy="109728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211FA55-739C-4949-251C-741E1947FF71}"/>
              </a:ext>
            </a:extLst>
          </p:cNvPr>
          <p:cNvSpPr/>
          <p:nvPr/>
        </p:nvSpPr>
        <p:spPr>
          <a:xfrm>
            <a:off x="1051560" y="489204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chronological 2016–2020 test set, all three models perform similarly (R² ≈ 0.87–0.88); Lasso is marginally best (R² = 0.876) while also zeroing out 56 of 100 encoded features.</a:t>
            </a:r>
            <a:endParaRPr lang="en-US" sz="13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E4AE5AD-9CFC-29B2-98FA-996398146360}"/>
              </a:ext>
            </a:extLst>
          </p:cNvPr>
          <p:cNvSpPr/>
          <p:nvPr/>
        </p:nvSpPr>
        <p:spPr>
          <a:xfrm>
            <a:off x="7680960" y="1463040"/>
            <a:ext cx="4050792" cy="4480560"/>
          </a:xfrm>
          <a:prstGeom prst="roundRect">
            <a:avLst>
              <a:gd name="adj" fmla="val 1806"/>
            </a:avLst>
          </a:prstGeom>
          <a:solidFill>
            <a:srgbClr val="2C5F2D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3113AE1-900B-9C2F-F805-92739ADEAF11}"/>
              </a:ext>
            </a:extLst>
          </p:cNvPr>
          <p:cNvSpPr/>
          <p:nvPr/>
        </p:nvSpPr>
        <p:spPr>
          <a:xfrm>
            <a:off x="790956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VALUE</a:t>
            </a:r>
            <a:endParaRPr lang="en-US" sz="11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62E04FA-3E5C-B96F-C7E1-6724A5A36042}"/>
              </a:ext>
            </a:extLst>
          </p:cNvPr>
          <p:cNvSpPr/>
          <p:nvPr/>
        </p:nvSpPr>
        <p:spPr>
          <a:xfrm>
            <a:off x="7909560" y="20574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9" name="Image 1" descr="/home/claude/work/icons/seedling_2C5F2D.png">
            <a:extLst>
              <a:ext uri="{FF2B5EF4-FFF2-40B4-BE49-F238E27FC236}">
                <a16:creationId xmlns:a16="http://schemas.microsoft.com/office/drawing/2014/main" id="{2C5B775D-01C4-73CD-909E-D0BE0E8FC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2112264"/>
            <a:ext cx="347472" cy="347472"/>
          </a:xfrm>
          <a:prstGeom prst="rect">
            <a:avLst/>
          </a:prstGeom>
        </p:spPr>
      </p:pic>
      <p:sp>
        <p:nvSpPr>
          <p:cNvPr id="20" name="Text 16">
            <a:extLst>
              <a:ext uri="{FF2B5EF4-FFF2-40B4-BE49-F238E27FC236}">
                <a16:creationId xmlns:a16="http://schemas.microsoft.com/office/drawing/2014/main" id="{DE23CBB5-ADE0-8363-0686-4D8535E251D9}"/>
              </a:ext>
            </a:extLst>
          </p:cNvPr>
          <p:cNvSpPr/>
          <p:nvPr/>
        </p:nvSpPr>
        <p:spPr>
          <a:xfrm>
            <a:off x="8503920" y="203911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agricultural planning with data-driven yield estimates</a:t>
            </a:r>
            <a:endParaRPr lang="en-US" sz="11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A4E2B45-3809-BA74-471B-0C3157B1EF9C}"/>
              </a:ext>
            </a:extLst>
          </p:cNvPr>
          <p:cNvSpPr/>
          <p:nvPr/>
        </p:nvSpPr>
        <p:spPr>
          <a:xfrm>
            <a:off x="7909560" y="29260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2" name="Image 2" descr="/home/claude/work/icons/cogs_2C5F2D.png">
            <a:extLst>
              <a:ext uri="{FF2B5EF4-FFF2-40B4-BE49-F238E27FC236}">
                <a16:creationId xmlns:a16="http://schemas.microsoft.com/office/drawing/2014/main" id="{0B38AAD2-54F4-B56C-2A16-41AC4CD94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980944"/>
            <a:ext cx="347472" cy="347472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B54EE403-33E4-E775-FDD8-E13B47143164}"/>
              </a:ext>
            </a:extLst>
          </p:cNvPr>
          <p:cNvSpPr/>
          <p:nvPr/>
        </p:nvSpPr>
        <p:spPr>
          <a:xfrm>
            <a:off x="8503920" y="2907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fertilizer / pesticide resource allocation</a:t>
            </a:r>
            <a:endParaRPr lang="en-US" sz="115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4A51860-33A2-A753-E495-7653421579BB}"/>
              </a:ext>
            </a:extLst>
          </p:cNvPr>
          <p:cNvSpPr/>
          <p:nvPr/>
        </p:nvSpPr>
        <p:spPr>
          <a:xfrm>
            <a:off x="7909560" y="37947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5" name="Image 3" descr="/home/claude/work/icons/chartbar_2C5F2D.png">
            <a:extLst>
              <a:ext uri="{FF2B5EF4-FFF2-40B4-BE49-F238E27FC236}">
                <a16:creationId xmlns:a16="http://schemas.microsoft.com/office/drawing/2014/main" id="{D98D10F9-26EC-8245-80B4-62F52D3EB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3849624"/>
            <a:ext cx="347472" cy="347472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DB9EF566-F5E3-4AA5-5F41-A84EDBD293EC}"/>
              </a:ext>
            </a:extLst>
          </p:cNvPr>
          <p:cNvSpPr/>
          <p:nvPr/>
        </p:nvSpPr>
        <p:spPr>
          <a:xfrm>
            <a:off x="8503920" y="37764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factors matter most for yield</a:t>
            </a:r>
            <a:endParaRPr lang="en-US" sz="11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B11E75AC-7608-95C6-9C72-0B0808E36E92}"/>
              </a:ext>
            </a:extLst>
          </p:cNvPr>
          <p:cNvSpPr/>
          <p:nvPr/>
        </p:nvSpPr>
        <p:spPr>
          <a:xfrm>
            <a:off x="7909560" y="4663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8" name="Image 4" descr="/home/claude/work/icons/leaf_2C5F2D.png">
            <a:extLst>
              <a:ext uri="{FF2B5EF4-FFF2-40B4-BE49-F238E27FC236}">
                <a16:creationId xmlns:a16="http://schemas.microsoft.com/office/drawing/2014/main" id="{4414F395-CA79-E79E-06F0-E2B56CE28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4718304"/>
            <a:ext cx="347472" cy="347472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64A7C4FE-7D0C-E60B-BB8C-49C0954335BD}"/>
              </a:ext>
            </a:extLst>
          </p:cNvPr>
          <p:cNvSpPr/>
          <p:nvPr/>
        </p:nvSpPr>
        <p:spPr>
          <a:xfrm>
            <a:off x="8503920" y="46451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data-driven crop management decisions</a:t>
            </a:r>
            <a:endParaRPr lang="en-US" sz="11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2B73A4EC-9224-0BD1-9431-051EB47258F6}"/>
              </a:ext>
            </a:extLst>
          </p:cNvPr>
          <p:cNvSpPr/>
          <p:nvPr/>
        </p:nvSpPr>
        <p:spPr>
          <a:xfrm>
            <a:off x="7909560" y="5577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predictions support planning and are not a substitute for agronomic expertise or field-level assessment.</a:t>
            </a:r>
            <a:endParaRPr lang="en-US" sz="95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691C22BE-0516-DE81-8D4F-93ABD4E2FF83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6B47E61-46DB-028C-8270-49C4BD714B27}"/>
              </a:ext>
            </a:extLst>
          </p:cNvPr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· Ridge, Lasso &amp; Elastic Net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56160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9B0B289C-018C-C1F1-9014-9A68AE7CACC1}"/>
              </a:ext>
            </a:extLst>
          </p:cNvPr>
          <p:cNvSpPr txBox="1"/>
          <p:nvPr/>
        </p:nvSpPr>
        <p:spPr>
          <a:xfrm>
            <a:off x="4569143" y="2828835"/>
            <a:ext cx="71466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2288</Words>
  <Application>Microsoft Office PowerPoint</Application>
  <PresentationFormat>Widescreen</PresentationFormat>
  <Paragraphs>340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Chandra Shekar Reddy Thippireddy</cp:lastModifiedBy>
  <cp:revision>5</cp:revision>
  <dcterms:created xsi:type="dcterms:W3CDTF">2026-08-28T05:38:35Z</dcterms:created>
  <dcterms:modified xsi:type="dcterms:W3CDTF">2026-08-28T06:04:16Z</dcterms:modified>
</cp:coreProperties>
</file>